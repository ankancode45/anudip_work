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08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538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731520"/>
            <a:ext cx="3840480" cy="3840480"/>
          </a:xfrm>
          <a:prstGeom prst="ellipse">
            <a:avLst/>
          </a:prstGeom>
          <a:solidFill>
            <a:srgbClr val="0D1B4B"/>
          </a:solidFill>
          <a:ln w="19050">
            <a:solidFill>
              <a:srgbClr val="1E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731520"/>
            <a:ext cx="2560320" cy="2560320"/>
          </a:xfrm>
          <a:prstGeom prst="ellipse">
            <a:avLst/>
          </a:prstGeom>
          <a:solidFill>
            <a:srgbClr val="1E6FE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INFORMATION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Systems · Data · Networks · Innovation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3200400" cy="36576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INFORMATION TECHNOLOGY?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solidFill>
            <a:srgbClr val="101535"/>
          </a:solidFill>
          <a:ln w="19050">
            <a:solidFill>
              <a:srgbClr val="1E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61872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 (IT) refers to the use of computers, software, networks, and digital systems to store, process, transmit, and manage information.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4114800" cy="2468880"/>
          </a:xfrm>
          <a:prstGeom prst="rect">
            <a:avLst/>
          </a:prstGeom>
          <a:solidFill>
            <a:srgbClr val="101535"/>
          </a:solidFill>
          <a:ln w="25400">
            <a:solidFill>
              <a:srgbClr val="1E6F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377440"/>
            <a:ext cx="4114800" cy="457200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2395728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Information Technology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&amp; management of computer systems, networks, and software to store, process, and share information.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4114800" cy="2468880"/>
          </a:xfrm>
          <a:prstGeom prst="rect">
            <a:avLst/>
          </a:prstGeom>
          <a:solidFill>
            <a:srgbClr val="10153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377440"/>
            <a:ext cx="411480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2395728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Computer Science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29260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computation, algorithms, and the design of computer systems and software.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COMPONENTS OF 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67000" cy="1691640"/>
          </a:xfrm>
          <a:prstGeom prst="rect">
            <a:avLst/>
          </a:prstGeom>
          <a:solidFill>
            <a:srgbClr val="101535"/>
          </a:solidFill>
          <a:ln w="19050">
            <a:solidFill>
              <a:srgbClr val="1E6F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1691640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353312"/>
            <a:ext cx="239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6F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783080"/>
            <a:ext cx="2392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devices: computers, servers, routers, storage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38500" y="1188720"/>
            <a:ext cx="2667000" cy="1691640"/>
          </a:xfrm>
          <a:prstGeom prst="rect">
            <a:avLst/>
          </a:prstGeom>
          <a:solidFill>
            <a:srgbClr val="1015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38500" y="1188720"/>
            <a:ext cx="73152" cy="1691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3403092" y="1353312"/>
            <a:ext cx="239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03092" y="1783080"/>
            <a:ext cx="2392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&amp; operating systems that run on hardware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11240" y="1188720"/>
            <a:ext cx="2667000" cy="1691640"/>
          </a:xfrm>
          <a:prstGeom prst="rect">
            <a:avLst/>
          </a:prstGeom>
          <a:solidFill>
            <a:srgbClr val="101535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1240" y="1188720"/>
            <a:ext cx="73152" cy="16916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75832" y="1353312"/>
            <a:ext cx="239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5832" y="1783080"/>
            <a:ext cx="2392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systems for data sharing via Internet, LAN, WAN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069080" cy="1691640"/>
          </a:xfrm>
          <a:prstGeom prst="rect">
            <a:avLst/>
          </a:prstGeom>
          <a:solidFill>
            <a:srgbClr val="101535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154680"/>
            <a:ext cx="73152" cy="16916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31927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374904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facts processed into meaningful information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069080" cy="1691640"/>
          </a:xfrm>
          <a:prstGeom prst="rect">
            <a:avLst/>
          </a:prstGeom>
          <a:solidFill>
            <a:srgbClr val="101535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3154680"/>
            <a:ext cx="73152" cy="1691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4873752" y="331927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 &amp; Processes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374904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professionals and workflows managing systems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NETWORKING &amp; THE INTERNET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 Types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64008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685800" cy="640080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002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627632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Area Network — office/building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4023360" cy="64008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50008"/>
            <a:ext cx="685800" cy="640080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35000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377440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Metropolitan Area Network — city-wide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99816"/>
            <a:ext cx="4023360" cy="64008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99816"/>
            <a:ext cx="685800" cy="640080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9981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127248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Area Network — country/global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49624"/>
            <a:ext cx="4023360" cy="64008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49624"/>
            <a:ext cx="685800" cy="640080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84962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877056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Area Network — device-level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 Devices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4880" y="1600200"/>
            <a:ext cx="4023360" cy="50292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600200"/>
            <a:ext cx="73152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618488"/>
            <a:ext cx="3749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194560"/>
            <a:ext cx="4023360" cy="50292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194560"/>
            <a:ext cx="73152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212848"/>
            <a:ext cx="3749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788920"/>
            <a:ext cx="4023360" cy="50292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788920"/>
            <a:ext cx="73152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807208"/>
            <a:ext cx="3749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383280"/>
            <a:ext cx="4023360" cy="50292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383280"/>
            <a:ext cx="73152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401568"/>
            <a:ext cx="3749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3977640"/>
            <a:ext cx="4023360" cy="50292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977640"/>
            <a:ext cx="73152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995928"/>
            <a:ext cx="3749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 A global network enabling email, web browsing, and real-time communication worldwide.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INFORMATION SECURITY &amp; CYBERSECURITY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THREATS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931920" cy="566928"/>
          </a:xfrm>
          <a:prstGeom prst="rect">
            <a:avLst/>
          </a:prstGeom>
          <a:solidFill>
            <a:srgbClr val="1A050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Viruses &amp; Malware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3931920" cy="566928"/>
          </a:xfrm>
          <a:prstGeom prst="rect">
            <a:avLst/>
          </a:prstGeom>
          <a:solidFill>
            <a:srgbClr val="1A050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042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16936"/>
            <a:ext cx="3931920" cy="566928"/>
          </a:xfrm>
          <a:prstGeom prst="rect">
            <a:avLst/>
          </a:prstGeom>
          <a:solidFill>
            <a:srgbClr val="1A050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6265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75304"/>
            <a:ext cx="3931920" cy="566928"/>
          </a:xfrm>
          <a:prstGeom prst="rect">
            <a:avLst/>
          </a:prstGeom>
          <a:solidFill>
            <a:srgbClr val="1A050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210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🛡  SECURITY MEASURES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600200"/>
            <a:ext cx="4114800" cy="438912"/>
          </a:xfrm>
          <a:prstGeom prst="rect">
            <a:avLst/>
          </a:prstGeom>
          <a:solidFill>
            <a:srgbClr val="051A0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6276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Firewalls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130552"/>
            <a:ext cx="4114800" cy="438912"/>
          </a:xfrm>
          <a:prstGeom prst="rect">
            <a:avLst/>
          </a:prstGeom>
          <a:solidFill>
            <a:srgbClr val="051A0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1579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Encryption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660904"/>
            <a:ext cx="4114800" cy="438912"/>
          </a:xfrm>
          <a:prstGeom prst="rect">
            <a:avLst/>
          </a:prstGeom>
          <a:solidFill>
            <a:srgbClr val="051A0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6883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Multi-Factor Authentication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3191256"/>
            <a:ext cx="4114800" cy="438912"/>
          </a:xfrm>
          <a:prstGeom prst="rect">
            <a:avLst/>
          </a:prstGeom>
          <a:solidFill>
            <a:srgbClr val="051A0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218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Network Monitoring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3721608"/>
            <a:ext cx="4114800" cy="438912"/>
          </a:xfrm>
          <a:prstGeom prst="rect">
            <a:avLst/>
          </a:prstGeom>
          <a:solidFill>
            <a:srgbClr val="051A0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7490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Backup &amp; Recovery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4251960"/>
            <a:ext cx="4114800" cy="438912"/>
          </a:xfrm>
          <a:prstGeom prst="rect">
            <a:avLst/>
          </a:prstGeom>
          <a:solidFill>
            <a:srgbClr val="051A0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42793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 Security Training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data and systems from unauthorized access, modification, or destruction is a core IT responsibility.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COMPUTING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computing services (servers, storage, databases, networking) over the Internet.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51760" cy="2286000"/>
          </a:xfrm>
          <a:prstGeom prst="rect">
            <a:avLst/>
          </a:prstGeom>
          <a:solidFill>
            <a:srgbClr val="101535"/>
          </a:solidFill>
          <a:ln w="25400">
            <a:solidFill>
              <a:srgbClr val="1E6F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2651760" cy="548640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0992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6F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 as a Service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Virtualized computing resources over the internet. (e.g., AWS EC2, Azure VMs)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691640"/>
            <a:ext cx="2651760" cy="2286000"/>
          </a:xfrm>
          <a:prstGeom prst="rect">
            <a:avLst/>
          </a:prstGeom>
          <a:solidFill>
            <a:srgbClr val="10153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1691640"/>
            <a:ext cx="265176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70992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10128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as a Service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10128" y="27889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 developers to build, test &amp; deploy apps. (e.g., Google App Engine)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71616" y="1691640"/>
            <a:ext cx="2651760" cy="2286000"/>
          </a:xfrm>
          <a:prstGeom prst="rect">
            <a:avLst/>
          </a:prstGeom>
          <a:solidFill>
            <a:srgbClr val="101535"/>
          </a:solidFill>
          <a:ln w="25400">
            <a:solidFill>
              <a:srgbClr val="00C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71616" y="1691640"/>
            <a:ext cx="2651760" cy="5486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170992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SaaS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63056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Software as a Service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63056" y="27889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Ready-to-use software accessed via browser. (e.g., Gmail, Salesforce, Office 365)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A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Providers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526280"/>
            <a:ext cx="2651760" cy="41148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44568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18688" y="4526280"/>
            <a:ext cx="2651760" cy="41148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4544568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71616" y="4526280"/>
            <a:ext cx="2651760" cy="41148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4544568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EMERGING IT TECHNOLOGIES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1691640"/>
          </a:xfrm>
          <a:prstGeom prst="rect">
            <a:avLst/>
          </a:prstGeom>
          <a:solidFill>
            <a:srgbClr val="101535"/>
          </a:solidFill>
          <a:ln w="19050">
            <a:solidFill>
              <a:srgbClr val="1E6F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4206240" cy="502920"/>
          </a:xfrm>
          <a:prstGeom prst="rect">
            <a:avLst/>
          </a:prstGeom>
          <a:solidFill>
            <a:srgbClr val="1E6FEB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97864"/>
            <a:ext cx="3986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 Artificial Intelligence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learning, automation, Natural Language Processing (NLP)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206240" cy="1691640"/>
          </a:xfrm>
          <a:prstGeom prst="rect">
            <a:avLst/>
          </a:prstGeom>
          <a:solidFill>
            <a:srgbClr val="101535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143000"/>
            <a:ext cx="4206240" cy="502920"/>
          </a:xfrm>
          <a:prstGeom prst="rect">
            <a:avLst/>
          </a:prstGeom>
          <a:solidFill>
            <a:srgbClr val="00C8FF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1197864"/>
            <a:ext cx="3986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 Internet of Things (IoT)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devices connected via the Internet — homes, factories, cities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206240" cy="1691640"/>
          </a:xfrm>
          <a:prstGeom prst="rect">
            <a:avLst/>
          </a:prstGeom>
          <a:solidFill>
            <a:srgbClr val="1015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63240"/>
            <a:ext cx="4206240" cy="502920"/>
          </a:xfrm>
          <a:prstGeom prst="rect">
            <a:avLst/>
          </a:prstGeom>
          <a:solidFill>
            <a:srgbClr val="FF6B35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3118104"/>
            <a:ext cx="3986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 Blockchain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6576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decentralized data ledger — transparent and tamper-proof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3063240"/>
            <a:ext cx="4206240" cy="1691640"/>
          </a:xfrm>
          <a:prstGeom prst="rect">
            <a:avLst/>
          </a:prstGeom>
          <a:solidFill>
            <a:srgbClr val="101535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063240"/>
            <a:ext cx="4206240" cy="502920"/>
          </a:xfrm>
          <a:prstGeom prst="rect">
            <a:avLst/>
          </a:prstGeom>
          <a:solidFill>
            <a:srgbClr val="9B59B6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910328" y="3118104"/>
            <a:ext cx="3986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Big 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6576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massive datasets for business insights and predictions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RESOURCE PLANNING (ERP)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integrates and manages core business processes — finance, HR, supply chain, and manufacturing — into one unified platform.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8412480" cy="530352"/>
          </a:xfrm>
          <a:prstGeom prst="rect">
            <a:avLst/>
          </a:prstGeom>
          <a:solidFill>
            <a:srgbClr val="101535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45920"/>
            <a:ext cx="54864" cy="530352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6420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Centralized Database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66160" y="166420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business data in one place for consistency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8412480" cy="530352"/>
          </a:xfrm>
          <a:prstGeom prst="rect">
            <a:avLst/>
          </a:prstGeom>
          <a:solidFill>
            <a:srgbClr val="0D1B4B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67712"/>
            <a:ext cx="54864" cy="530352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8600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 of Functions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6160" y="2286000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HR, Finance, Sales, and Supply Chain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8412480" cy="530352"/>
          </a:xfrm>
          <a:prstGeom prst="rect">
            <a:avLst/>
          </a:prstGeom>
          <a:solidFill>
            <a:srgbClr val="101535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89504"/>
            <a:ext cx="54864" cy="530352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0779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66160" y="2907792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work and errors in repetitive tasks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511296"/>
            <a:ext cx="8412480" cy="530352"/>
          </a:xfrm>
          <a:prstGeom prst="rect">
            <a:avLst/>
          </a:prstGeom>
          <a:solidFill>
            <a:srgbClr val="0D1B4B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511296"/>
            <a:ext cx="54864" cy="530352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2958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Reporting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66160" y="3529584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access to business insights and metrics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133088"/>
            <a:ext cx="8412480" cy="530352"/>
          </a:xfrm>
          <a:prstGeom prst="rect">
            <a:avLst/>
          </a:prstGeom>
          <a:solidFill>
            <a:srgbClr val="101535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133088"/>
            <a:ext cx="54864" cy="530352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151376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Scalability &amp; Customization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66160" y="4151376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your business; tailored to needs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576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Popular ERP Platforms: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4754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ERP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22192" y="4754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ERP Cloud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75504" y="4754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Dynamics 365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28816" y="4754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82128" y="4754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NetSuite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ERP vs CRM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06240" cy="3840480"/>
          </a:xfrm>
          <a:prstGeom prst="rect">
            <a:avLst/>
          </a:prstGeom>
          <a:solidFill>
            <a:srgbClr val="101535"/>
          </a:solidFill>
          <a:ln w="25400">
            <a:solidFill>
              <a:srgbClr val="1E6F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206240" cy="548640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Purpose: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947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internal business processes: finance, HR, inventory, supply chain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Functions: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5237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· HR &amp; Payroll · Inventory · Procurement · Supply Chain · Manufacturing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077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Handled: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0998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data: suppliers, employees, inventory, costs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4838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Users: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675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HR · Operations · Logistics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0599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251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efficiency, reduce costs, streamline operations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1097280"/>
            <a:ext cx="4206240" cy="3840480"/>
          </a:xfrm>
          <a:prstGeom prst="rect">
            <a:avLst/>
          </a:prstGeom>
          <a:solidFill>
            <a:srgbClr val="10153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097280"/>
            <a:ext cx="420624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11556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37760" y="17556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Purpose: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1947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customer-related activities: sales, marketing, service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2331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Functions: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25237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Management · Sales Tracking · Marketing Campaigns · Customer Support · Service Tickets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29077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Handled: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30998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data: leads, buying behavior, communication history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34838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Users: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0" y="3675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Marketing · Customer Support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0" y="40599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37760" y="4251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satisfaction, increase sales, build relationships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TYPES OF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3840480"/>
          </a:xfrm>
          <a:prstGeom prst="rect">
            <a:avLst/>
          </a:prstGeom>
          <a:solidFill>
            <a:srgbClr val="101535"/>
          </a:solidFill>
          <a:ln w="25400">
            <a:solidFill>
              <a:srgbClr val="1E6F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502920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115568"/>
            <a:ext cx="25054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Structured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" y="1709928"/>
            <a:ext cx="2432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F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Characteristics: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993392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 rows &amp; columns · Fixed schema · Easy to query with 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3264408"/>
            <a:ext cx="2432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F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Examples: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3538728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sheets · SQL databases · Bank transaction records · Employee records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1097280"/>
            <a:ext cx="2651760" cy="3840480"/>
          </a:xfrm>
          <a:prstGeom prst="rect">
            <a:avLst/>
          </a:prstGeom>
          <a:solidFill>
            <a:srgbClr val="10153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1097280"/>
            <a:ext cx="265176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115568"/>
            <a:ext cx="25054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Semi-structured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28416" y="1709928"/>
            <a:ext cx="2432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Characteristics: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28416" y="1993392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strict table format · Has tags or key–value pairs · Hierarchical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28416" y="3264408"/>
            <a:ext cx="2432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Examples: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28416" y="3538728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&amp; XML files · HTML pages · Emails · NoSQL databases (MongoDB)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71616" y="1097280"/>
            <a:ext cx="2651760" cy="3840480"/>
          </a:xfrm>
          <a:prstGeom prst="rect">
            <a:avLst/>
          </a:prstGeom>
          <a:solidFill>
            <a:srgbClr val="101535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1097280"/>
            <a:ext cx="2651760" cy="502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6144768" y="1115568"/>
            <a:ext cx="25054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Unstructured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81344" y="1709928"/>
            <a:ext cx="2432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Characteristics: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81344" y="1993392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predefined schema · Free-form · Requires NLP/image processing to analyze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81344" y="3264408"/>
            <a:ext cx="2432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Examples: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81344" y="3538728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documents · Images · Audio &amp; video · Social media posts · Scanned docs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GOVERNANCE &amp; ETHICAL USE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solidFill>
            <a:srgbClr val="101535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= policies, rules, roles, and processes ensuring data is correct, secure, consistent, and used responsibly.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Benefits of Data Governance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3931920" cy="438912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58568"/>
            <a:ext cx="54864" cy="43891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" y="2286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 Quality &amp;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3931920" cy="438912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788920"/>
            <a:ext cx="54864" cy="43891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28163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Decision-Making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19272"/>
            <a:ext cx="3931920" cy="438912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319272"/>
            <a:ext cx="54864" cy="43891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33467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Data Security &amp; Privacy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49624"/>
            <a:ext cx="3931920" cy="438912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849624"/>
            <a:ext cx="54864" cy="43891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38770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(GDPR/CCPA)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379976"/>
            <a:ext cx="3931920" cy="438912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379976"/>
            <a:ext cx="54864" cy="43891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" y="44074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Roles &amp; Accountability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1828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Ethical Principles of Data Use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2258568"/>
            <a:ext cx="4114800" cy="438912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258568"/>
            <a:ext cx="54864" cy="43891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09744" y="2286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Transparency: </a:t>
            </a: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informed consent; be open about data use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2788920"/>
            <a:ext cx="4114800" cy="438912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788920"/>
            <a:ext cx="54864" cy="43891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9" name="Text 27"/>
          <p:cNvSpPr/>
          <p:nvPr/>
        </p:nvSpPr>
        <p:spPr>
          <a:xfrm>
            <a:off x="4809744" y="28163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Non-Discrimination: </a:t>
            </a: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bias in data collection and analysis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319272"/>
            <a:ext cx="4114800" cy="438912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319272"/>
            <a:ext cx="54864" cy="43891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2" name="Text 30"/>
          <p:cNvSpPr/>
          <p:nvPr/>
        </p:nvSpPr>
        <p:spPr>
          <a:xfrm>
            <a:off x="4809744" y="3346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Minimization: </a:t>
            </a: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only what is necessary for the purpose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849624"/>
            <a:ext cx="4114800" cy="438912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849624"/>
            <a:ext cx="54864" cy="43891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5" name="Text 33"/>
          <p:cNvSpPr/>
          <p:nvPr/>
        </p:nvSpPr>
        <p:spPr>
          <a:xfrm>
            <a:off x="4809744" y="38770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Accountability: </a:t>
            </a: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responsibility for data handling across lifecycle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4379976"/>
            <a:ext cx="4114800" cy="438912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4379976"/>
            <a:ext cx="54864" cy="43891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8" name="Text 36"/>
          <p:cNvSpPr/>
          <p:nvPr/>
        </p:nvSpPr>
        <p:spPr>
          <a:xfrm>
            <a:off x="4809744" y="44074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Security: </a:t>
            </a: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personal data from unauthorized access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GDPR vs CCPA COMPLIANCE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57784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88136"/>
            <a:ext cx="1508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Aspect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03120" y="1088136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GDPR (EU)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0" y="1088136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CCPA (California)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00784"/>
            <a:ext cx="8412480" cy="55778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37360"/>
            <a:ext cx="1508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03120" y="1737360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Union &amp; EEA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0" y="1737360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California, 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350008"/>
            <a:ext cx="8412480" cy="557784"/>
          </a:xfrm>
          <a:prstGeom prst="rect">
            <a:avLst/>
          </a:prstGeom>
          <a:solidFill>
            <a:srgbClr val="10153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86584"/>
            <a:ext cx="1508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Protected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3120" y="2386584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EU data subjects regardless of citizenship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0" y="2386584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California residents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99232"/>
            <a:ext cx="8412480" cy="55778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35808"/>
            <a:ext cx="1508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Basis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03120" y="3035808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opt-in consent or legitimate interest required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0" y="3035808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data processing; opt-out of sale required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648456"/>
            <a:ext cx="8412480" cy="557784"/>
          </a:xfrm>
          <a:prstGeom prst="rect">
            <a:avLst/>
          </a:prstGeom>
          <a:solidFill>
            <a:srgbClr val="10153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85032"/>
            <a:ext cx="1508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Rights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3120" y="3685032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· Delete · Rectify · Data portability · Object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0" y="3685032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· Delete · Opt-out · Non-discrimination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297680"/>
            <a:ext cx="8412480" cy="55778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34256"/>
            <a:ext cx="1508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103120" y="4334256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€20M or 4% of global annual turnover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0" y="4334256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 (unintentional) / $7,500 (intentional) per incident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 bridge business needs and technical solutions by gathering requirements, analyzing data, and guiding strategic decisions.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4206240" cy="91440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64208"/>
            <a:ext cx="64008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7282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Analyzing Business Needs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20482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identify functional and technical requirements to solve problems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664208"/>
            <a:ext cx="4206240" cy="91440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664208"/>
            <a:ext cx="64008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4965192" y="17282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Analysis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65192" y="20482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large datasets with SQL and Excel to find trends and build models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761488"/>
            <a:ext cx="4206240" cy="91440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61488"/>
            <a:ext cx="64008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825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 Improvement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0352" y="31455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existing processes; identify inefficiencies and propose solutions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761488"/>
            <a:ext cx="4206240" cy="91440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761488"/>
            <a:ext cx="64008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4965192" y="2825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Requirements Gathering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65192" y="31455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detailed requirements from stakeholders to define project scope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858768"/>
            <a:ext cx="4206240" cy="91440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858768"/>
            <a:ext cx="64008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9227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Communication &amp; Documentation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0352" y="4242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reports and presentations to communicate findings to management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858768"/>
            <a:ext cx="4206240" cy="914400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858768"/>
            <a:ext cx="64008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4965192" y="39227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 Implementation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65192" y="4242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implementation of new systems to ensure they meet requirements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AGILE vs WATERFALL 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47548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51560"/>
            <a:ext cx="1645920" cy="475488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6984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Aspect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1051560"/>
            <a:ext cx="3383280" cy="475488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06984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Waterfall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1051560"/>
            <a:ext cx="3383280" cy="475488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06984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Agile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527048"/>
            <a:ext cx="8412480" cy="438912"/>
          </a:xfrm>
          <a:prstGeom prst="rect">
            <a:avLst/>
          </a:prstGeom>
          <a:solidFill>
            <a:srgbClr val="10153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554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Approach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03120" y="1554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and sequential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1554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and incremental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029968"/>
            <a:ext cx="8412480" cy="43891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0574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Phases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03120" y="20574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Requirements → Design → Dev → Test → Deploy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0" y="20574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cycles called sprints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532888"/>
            <a:ext cx="8412480" cy="438912"/>
          </a:xfrm>
          <a:prstGeom prst="rect">
            <a:avLst/>
          </a:prstGeom>
          <a:solidFill>
            <a:srgbClr val="10153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5603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Requirements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03120" y="25603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fully at beginning; changes are difficult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25603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change anytime; refined continuously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035808"/>
            <a:ext cx="8412480" cy="43891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0632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Flexibility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03120" y="30632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not suitable for frequent changes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30632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designed to handle changing needs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538728"/>
            <a:ext cx="8412480" cy="438912"/>
          </a:xfrm>
          <a:prstGeom prst="rect">
            <a:avLst/>
          </a:prstGeom>
          <a:solidFill>
            <a:srgbClr val="101535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5661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Involvement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103120" y="35661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at start and delivery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0" y="35661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involvement in every sprint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041648"/>
            <a:ext cx="8412480" cy="43891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069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103120" y="40690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product at end of project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0" y="40690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 after each sprint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544568"/>
            <a:ext cx="8412480" cy="438912"/>
          </a:xfrm>
          <a:prstGeom prst="rect">
            <a:avLst/>
          </a:prstGeom>
          <a:solidFill>
            <a:srgbClr val="101535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5720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Suited For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103120" y="45720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stable requirements; regulatory projects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0" y="45720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or evolving requirements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114800" cy="4114800"/>
          </a:xfrm>
          <a:prstGeom prst="ellipse">
            <a:avLst/>
          </a:prstGeom>
          <a:solidFill>
            <a:srgbClr val="1E6FE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FF6B35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Information Technology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the modern world.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438912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31720"/>
            <a:ext cx="64008" cy="438912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5000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encompasses hardware, software, networks, data, and people working together.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843784"/>
            <a:ext cx="8229600" cy="438912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43784"/>
            <a:ext cx="64008" cy="43891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6207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computing, AI, IoT, and Big Data are reshaping every industry.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355848"/>
            <a:ext cx="8229600" cy="438912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55848"/>
            <a:ext cx="64008" cy="438912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7413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and CRM systems drive business efficiency and customer success.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867912"/>
            <a:ext cx="8229600" cy="438912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67912"/>
            <a:ext cx="64008" cy="43891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8620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and cybersecurity are non-negotiable in the digital age.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379976"/>
            <a:ext cx="8229600" cy="438912"/>
          </a:xfrm>
          <a:prstGeom prst="rect">
            <a:avLst/>
          </a:prstGeom>
          <a:solidFill>
            <a:srgbClr val="1015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79976"/>
            <a:ext cx="64008" cy="438912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3982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 and agile methodologies bridge strategy with execution.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6FE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0017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Information Technology Presentation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1226</Words>
  <Application>Microsoft Office PowerPoint</Application>
  <PresentationFormat>On-screen Show (16:9)</PresentationFormat>
  <Paragraphs>228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Technology</dc:title>
  <dc:subject>PptxGenJS Presentation</dc:subject>
  <dc:creator>PptxGenJS</dc:creator>
  <cp:lastModifiedBy>Ankan Das</cp:lastModifiedBy>
  <cp:revision>2</cp:revision>
  <dcterms:created xsi:type="dcterms:W3CDTF">2026-02-18T10:22:10Z</dcterms:created>
  <dcterms:modified xsi:type="dcterms:W3CDTF">2026-02-18T10:25:01Z</dcterms:modified>
</cp:coreProperties>
</file>